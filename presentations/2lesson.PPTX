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2" r:id="rId8"/>
    <p:sldId id="261" r:id="rId9"/>
    <p:sldId id="263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Слайд заголов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RU" dirty="0"/>
          </a:p>
        </p:txBody>
      </p:sp>
      <p:sp>
        <p:nvSpPr>
          <p:cNvPr id="16" name="Заполнитель даты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17" name="Заполнитель колонтитула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8" name="Заполнитель номера слайда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содержимо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Заполнитель содержимого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ru-RU" dirty="0"/>
              <a:t>Заголовок</a:t>
            </a:r>
            <a:endParaRPr lang="ru-RU" dirty="0"/>
          </a:p>
        </p:txBody>
      </p:sp>
      <p:sp>
        <p:nvSpPr>
          <p:cNvPr id="3" name="Текстовый заполнитель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Редактировать текст</a:t>
            </a:r>
            <a:endParaRPr lang="ru-RU" dirty="0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Содержимое в двух колонка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Заполнитель содержимого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Заполнитель содержимого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5" name="Заполнитель даты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6" name="Заполнитель колонтитула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Заполнитель номера слайда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овый заполнитель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Редактировать текст</a:t>
            </a:r>
            <a:endParaRPr lang="ru-RU" dirty="0"/>
          </a:p>
        </p:txBody>
      </p:sp>
      <p:sp>
        <p:nvSpPr>
          <p:cNvPr id="4" name="Заполнитель содержимого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овый заполнитель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Редактировать текст</a:t>
            </a:r>
            <a:endParaRPr lang="ru-RU"/>
          </a:p>
        </p:txBody>
      </p:sp>
      <p:sp>
        <p:nvSpPr>
          <p:cNvPr id="6" name="Заполнитель содержимого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Заполнитель даты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8" name="Заполнитель колонтитула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Заполнитель номера слайда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Заполнитель даты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4" name="Заполнитель колонтитула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полнитель номера слайда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даты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3" name="Заполнитель колонтитула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полнитель номера слайда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зображение и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полнитель изображения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ru-RU"/>
          </a:p>
        </p:txBody>
      </p:sp>
      <p:sp>
        <p:nvSpPr>
          <p:cNvPr id="4" name="Текстовый заполнитель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ru-RU" smtClean="0"/>
              <a:t>Образец текста</a:t>
            </a:r>
            <a:endParaRPr lang="ru-RU"/>
          </a:p>
        </p:txBody>
      </p:sp>
      <p:sp>
        <p:nvSpPr>
          <p:cNvPr id="5" name="Заполнитель даты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ru-RU" smtClean="0"/>
            </a:fld>
            <a:endParaRPr lang="ru-RU" dirty="0"/>
          </a:p>
        </p:txBody>
      </p:sp>
      <p:sp>
        <p:nvSpPr>
          <p:cNvPr id="6" name="Заполнитель колонтитула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Заполнитель номера слайда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ru-RU" smtClean="0"/>
            </a:fld>
            <a:endParaRPr lang="ru-RU"/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ru-RU"/>
              <a:t>Образец заголовка</a:t>
            </a:r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ru-RU" smtClean="0"/>
              <a:t>Заголовок</a:t>
            </a:r>
            <a:endParaRPr lang="ru-RU"/>
          </a:p>
        </p:txBody>
      </p:sp>
      <p:sp>
        <p:nvSpPr>
          <p:cNvPr id="3" name="Заполнитель вертикального текста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полнитель даты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4" name="Заполнитель колонтитула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полнитель номера слайда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  <p:sp>
        <p:nvSpPr>
          <p:cNvPr id="7" name="Заполнитель содержимого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еч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полнитель даты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4" name="Заполнитель колонтитула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полнитель номера слайда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ru-RU" smtClean="0"/>
              <a:t>Заголовок</a:t>
            </a:r>
            <a:endParaRPr lang="ru-RU"/>
          </a:p>
        </p:txBody>
      </p:sp>
      <p:sp>
        <p:nvSpPr>
          <p:cNvPr id="7" name="Текстовый заполнитель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-заполнитель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3" name="Текстовый заполнитель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ru-RU" smtClean="0"/>
            </a:fld>
            <a:endParaRPr lang="ru-RU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7.xml"/><Relationship Id="rId3" Type="http://schemas.openxmlformats.org/officeDocument/2006/relationships/image" Target="../media/image3.png"/><Relationship Id="rId2" Type="http://schemas.openxmlformats.org/officeDocument/2006/relationships/tags" Target="../tags/tag66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9.xml"/><Relationship Id="rId3" Type="http://schemas.openxmlformats.org/officeDocument/2006/relationships/image" Target="../media/image4.png"/><Relationship Id="rId2" Type="http://schemas.openxmlformats.org/officeDocument/2006/relationships/tags" Target="../tags/tag68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1.xml"/><Relationship Id="rId3" Type="http://schemas.openxmlformats.org/officeDocument/2006/relationships/image" Target="../media/image5.png"/><Relationship Id="rId2" Type="http://schemas.openxmlformats.org/officeDocument/2006/relationships/tags" Target="../tags/tag70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3.xml"/><Relationship Id="rId3" Type="http://schemas.openxmlformats.org/officeDocument/2006/relationships/image" Target="../media/image6.png"/><Relationship Id="rId2" Type="http://schemas.openxmlformats.org/officeDocument/2006/relationships/tags" Target="../tags/tag7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5.xml"/><Relationship Id="rId3" Type="http://schemas.openxmlformats.org/officeDocument/2006/relationships/image" Target="../media/image7.png"/><Relationship Id="rId2" Type="http://schemas.openxmlformats.org/officeDocument/2006/relationships/tags" Target="../tags/tag74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7.xml"/><Relationship Id="rId3" Type="http://schemas.openxmlformats.org/officeDocument/2006/relationships/image" Target="../media/image8.png"/><Relationship Id="rId2" Type="http://schemas.openxmlformats.org/officeDocument/2006/relationships/tags" Target="../tags/tag76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9.xml"/><Relationship Id="rId3" Type="http://schemas.openxmlformats.org/officeDocument/2006/relationships/image" Target="../media/image9.png"/><Relationship Id="rId2" Type="http://schemas.openxmlformats.org/officeDocument/2006/relationships/tags" Target="../tags/tag78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1.xml"/><Relationship Id="rId3" Type="http://schemas.openxmlformats.org/officeDocument/2006/relationships/image" Target="../media/image10.png"/><Relationship Id="rId2" Type="http://schemas.openxmlformats.org/officeDocument/2006/relationships/tags" Target="../tags/tag80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36370" y="-1295854"/>
            <a:ext cx="4893129" cy="48931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Изображение 3" descr="20eee510-9117-496a-be96-dcb952aa59bb"/>
          <p:cNvPicPr>
            <a:picLocks noChangeAspect="1"/>
          </p:cNvPicPr>
          <p:nvPr/>
        </p:nvPicPr>
        <p:blipFill>
          <a:blip r:embed="rId2"/>
          <a:srcRect r="359"/>
          <a:stretch>
            <a:fillRect/>
          </a:stretch>
        </p:blipFill>
        <p:spPr>
          <a:xfrm>
            <a:off x="0" y="0"/>
            <a:ext cx="9342120" cy="68580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Google Shape;86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36370" y="-1295854"/>
            <a:ext cx="4893129" cy="489312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Заголовок 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330" y="608330"/>
            <a:ext cx="3075305" cy="705485"/>
          </a:xfrm>
        </p:spPr>
        <p:txBody>
          <a:bodyPr/>
          <a:p>
            <a:r>
              <a:rPr lang="en-US" altLang="ru-RU" b="1">
                <a:sym typeface="+mn-ea"/>
              </a:rPr>
              <a:t>Git</a:t>
            </a:r>
            <a:endParaRPr lang="en-US" altLang="ru-RU" b="1"/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530860" y="1689417"/>
            <a:ext cx="5080000" cy="70675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2000" b="1">
                <a:latin typeface="Arial" panose="020B0604020202020204" pitchFamily="34" charset="0"/>
                <a:ea typeface="monospace"/>
                <a:cs typeface="Arial" panose="020B0604020202020204" pitchFamily="34" charset="0"/>
              </a:rPr>
              <a:t>Урок 2. Анатомия Git и работа через консоль</a:t>
            </a:r>
            <a:endParaRPr sz="2000" b="1">
              <a:latin typeface="Arial" panose="020B0604020202020204" pitchFamily="34" charset="0"/>
              <a:ea typeface="monospace"/>
              <a:cs typeface="Arial" panose="020B0604020202020204" pitchFamily="34" charset="0"/>
            </a:endParaRPr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530860" y="2771140"/>
            <a:ext cx="5080000" cy="2306955"/>
          </a:xfrm>
          <a:prstGeom prst="rect">
            <a:avLst/>
          </a:prstGeom>
        </p:spPr>
        <p:txBody>
          <a:bodyPr>
            <a:spAutoFit/>
          </a:bodyPr>
          <a:p>
            <a:r>
              <a:t>Цель урока: </a:t>
            </a:r>
          </a:p>
          <a:p>
            <a:r>
              <a:t>1. Настройка имени и email автора в Git </a:t>
            </a:r>
          </a:p>
          <a:p>
            <a:r>
              <a:t>2. Работа с встроенным терминалом VS Code 3. Жизненный цикл файла: git status и git add 4. Создание коммитов по стандарту Conventional Commits </a:t>
            </a:r>
          </a:p>
          <a:p>
            <a:r>
              <a:t>5. Фильтрация мусора: создание и настройка .gitignore</a:t>
            </a: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" name="Google Shape;86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36370" y="-1295854"/>
            <a:ext cx="4893129" cy="489312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Заголовок 1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03860" y="403225"/>
            <a:ext cx="3075305" cy="705485"/>
          </a:xfrm>
        </p:spPr>
        <p:txBody>
          <a:bodyPr/>
          <a:p>
            <a:r>
              <a:rPr lang="en-US" altLang="ru-RU" b="1"/>
              <a:t>Git</a:t>
            </a:r>
            <a:endParaRPr lang="en-US" altLang="ru-RU" b="1"/>
          </a:p>
        </p:txBody>
      </p:sp>
      <p:sp>
        <p:nvSpPr>
          <p:cNvPr id="15" name="Текстовое поле 14"/>
          <p:cNvSpPr txBox="1"/>
          <p:nvPr/>
        </p:nvSpPr>
        <p:spPr>
          <a:xfrm>
            <a:off x="403860" y="1715135"/>
            <a:ext cx="4415790" cy="23482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lang="en-US" altLang="en-US">
                <a:sym typeface="+mn-ea"/>
              </a:rPr>
              <a:t>Перед стартом нам нужно открыть папку с кодом из прошлого урока.</a:t>
            </a:r>
            <a:endParaRPr lang="en-US" altLang="en-US">
              <a:sym typeface="+mn-ea"/>
            </a:endParaRPr>
          </a:p>
          <a:p>
            <a:pPr algn="l"/>
            <a:endParaRPr lang="en-US" altLang="en-US">
              <a:sym typeface="+mn-ea"/>
            </a:endParaRPr>
          </a:p>
          <a:p>
            <a:pPr algn="l"/>
            <a:r>
              <a:rPr lang="en-US" altLang="en-US">
                <a:sym typeface="+mn-ea"/>
              </a:rPr>
              <a:t>В верхнем меню </a:t>
            </a:r>
            <a:r>
              <a:rPr lang="en-US" altLang="ru-RU">
                <a:sym typeface="+mn-ea"/>
              </a:rPr>
              <a:t>VS Code </a:t>
            </a:r>
            <a:r>
              <a:rPr lang="en-US" altLang="en-US">
                <a:sym typeface="+mn-ea"/>
              </a:rPr>
              <a:t>выберите:</a:t>
            </a:r>
            <a:r>
              <a:rPr lang="ru-RU" altLang="en-US">
                <a:sym typeface="+mn-ea"/>
              </a:rPr>
              <a:t> </a:t>
            </a:r>
            <a:r>
              <a:rPr lang="en-US" altLang="ru-RU">
                <a:sym typeface="+mn-ea"/>
              </a:rPr>
              <a:t>File ➔ Open Folder... </a:t>
            </a:r>
            <a:r>
              <a:rPr lang="en-US" altLang="en-US">
                <a:sym typeface="+mn-ea"/>
              </a:rPr>
              <a:t>и выберите вашу рабочую папку.</a:t>
            </a:r>
            <a:endParaRPr lang="en-US" altLang="en-US">
              <a:sym typeface="+mn-ea"/>
            </a:endParaRPr>
          </a:p>
        </p:txBody>
      </p:sp>
      <p:sp>
        <p:nvSpPr>
          <p:cNvPr id="16" name="Текстовое поле 15"/>
          <p:cNvSpPr txBox="1"/>
          <p:nvPr/>
        </p:nvSpPr>
        <p:spPr>
          <a:xfrm>
            <a:off x="403860" y="110871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400" b="1">
                <a:sym typeface="+mn-ea"/>
              </a:rPr>
              <a:t>Шаг 1. </a:t>
            </a:r>
            <a:r>
              <a:rPr lang="ru-RU" altLang="en-US" sz="2400" b="1">
                <a:sym typeface="+mn-ea"/>
              </a:rPr>
              <a:t>Открытие проекта</a:t>
            </a:r>
            <a:endParaRPr lang="ru-RU" altLang="en-US" sz="2400" b="1">
              <a:sym typeface="+mn-ea"/>
            </a:endParaRPr>
          </a:p>
        </p:txBody>
      </p:sp>
      <p:pic>
        <p:nvPicPr>
          <p:cNvPr id="19" name="Изображение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715135"/>
            <a:ext cx="3581400" cy="4781550"/>
          </a:xfrm>
          <a:prstGeom prst="rect">
            <a:avLst/>
          </a:prstGeom>
          <a:effectLst>
            <a:softEdge rad="31750"/>
          </a:effectLst>
        </p:spPr>
      </p:pic>
      <p:cxnSp>
        <p:nvCxnSpPr>
          <p:cNvPr id="20" name="Прямая со стрелкой 19"/>
          <p:cNvCxnSpPr/>
          <p:nvPr/>
        </p:nvCxnSpPr>
        <p:spPr>
          <a:xfrm flipH="1" flipV="1">
            <a:off x="7701915" y="3394075"/>
            <a:ext cx="501015" cy="8890"/>
          </a:xfrm>
          <a:prstGeom prst="straightConnector1">
            <a:avLst/>
          </a:prstGeom>
          <a:ln w="31750">
            <a:gradFill>
              <a:gsLst>
                <a:gs pos="0">
                  <a:schemeClr val="accent2">
                    <a:hueOff val="-4200000"/>
                  </a:schemeClr>
                </a:gs>
                <a:gs pos="100000">
                  <a:schemeClr val="accent2"/>
                </a:gs>
              </a:gsLst>
            </a:gra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Google Shape;86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36370" y="-1295854"/>
            <a:ext cx="4893129" cy="489312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Заголовок 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330" y="608330"/>
            <a:ext cx="3075305" cy="705485"/>
          </a:xfrm>
        </p:spPr>
        <p:txBody>
          <a:bodyPr/>
          <a:p>
            <a:r>
              <a:rPr lang="en-US" altLang="ru-RU" b="1">
                <a:sym typeface="+mn-ea"/>
              </a:rPr>
              <a:t>Git</a:t>
            </a:r>
            <a:endParaRPr lang="en-US" altLang="ru-RU" b="1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608330" y="1313498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r>
              <a:rPr sz="2400" b="1"/>
              <a:t>Шаг 2. Глобальная настройка</a:t>
            </a:r>
            <a:endParaRPr sz="2400" b="1"/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608330" y="3361690"/>
            <a:ext cx="5080000" cy="203009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b="0">
                <a:latin typeface="Calibri" panose="020F0502020204030204" charset="0"/>
                <a:ea typeface="monospace"/>
                <a:cs typeface="Calibri" panose="020F0502020204030204" charset="0"/>
              </a:rPr>
              <a:t>Укажите Git ваше имя и email, чтобы система знала автора коммитов. </a:t>
            </a:r>
            <a:endParaRPr b="0">
              <a:latin typeface="Calibri" panose="020F0502020204030204" charset="0"/>
              <a:ea typeface="monospace"/>
              <a:cs typeface="Calibri" panose="020F05020202040302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endParaRPr b="0">
              <a:latin typeface="Calibri" panose="020F0502020204030204" charset="0"/>
              <a:ea typeface="monospace"/>
              <a:cs typeface="Calibri" panose="020F05020202040302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b="0">
                <a:latin typeface="Calibri" panose="020F0502020204030204" charset="0"/>
                <a:ea typeface="monospace"/>
                <a:cs typeface="Calibri" panose="020F0502020204030204" charset="0"/>
              </a:rPr>
              <a:t>Введите две команды по очереди:</a:t>
            </a:r>
            <a:endParaRPr b="0">
              <a:latin typeface="Calibri" panose="020F0502020204030204" charset="0"/>
              <a:ea typeface="monospace"/>
              <a:cs typeface="Calibri" panose="020F05020202040302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endParaRPr b="0">
              <a:latin typeface="Calibri" panose="020F0502020204030204" charset="0"/>
              <a:ea typeface="monospace"/>
              <a:cs typeface="Calibri" panose="020F05020202040302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b="1">
                <a:latin typeface="Calibri" panose="020F0502020204030204" charset="0"/>
                <a:ea typeface="monospace"/>
                <a:cs typeface="Calibri" panose="020F0502020204030204" charset="0"/>
              </a:rPr>
              <a:t>git config --global user.name "Your Name"</a:t>
            </a:r>
            <a:endParaRPr b="1">
              <a:latin typeface="Calibri" panose="020F0502020204030204" charset="0"/>
              <a:ea typeface="monospace"/>
              <a:cs typeface="Calibri" panose="020F05020202040302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b="1">
                <a:latin typeface="Calibri" panose="020F0502020204030204" charset="0"/>
                <a:ea typeface="monospace"/>
                <a:cs typeface="Calibri" panose="020F0502020204030204" charset="0"/>
              </a:rPr>
              <a:t>git config --global user.email "your@email.com"</a:t>
            </a:r>
            <a:endParaRPr b="1">
              <a:latin typeface="Calibri" panose="020F0502020204030204" charset="0"/>
              <a:ea typeface="monospace"/>
              <a:cs typeface="Calibri" panose="020F0502020204030204" charset="0"/>
            </a:endParaRPr>
          </a:p>
        </p:txBody>
      </p:sp>
      <p:pic>
        <p:nvPicPr>
          <p:cNvPr id="8" name="Изображение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7525" y="3661410"/>
            <a:ext cx="6309995" cy="1628775"/>
          </a:xfrm>
          <a:prstGeom prst="rect">
            <a:avLst/>
          </a:prstGeom>
          <a:effectLst>
            <a:softEdge rad="31750"/>
          </a:effectLst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Google Shape;86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36370" y="-1295854"/>
            <a:ext cx="4893129" cy="489312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Заголовок 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330" y="608330"/>
            <a:ext cx="3075305" cy="705485"/>
          </a:xfrm>
        </p:spPr>
        <p:txBody>
          <a:bodyPr/>
          <a:p>
            <a:r>
              <a:rPr lang="en-US" altLang="ru-RU" b="1">
                <a:sym typeface="+mn-ea"/>
              </a:rPr>
              <a:t>Git</a:t>
            </a:r>
            <a:endParaRPr lang="en-US" altLang="ru-RU" b="1"/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608330" y="1376363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r>
              <a:rPr sz="2400" b="1">
                <a:latin typeface="Calibri" panose="020F0502020204030204" charset="0"/>
                <a:cs typeface="Calibri" panose="020F0502020204030204" charset="0"/>
              </a:rPr>
              <a:t>Шаг 3. Проверка статуса</a:t>
            </a:r>
            <a:endParaRPr sz="2400" b="1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608330" y="2028825"/>
            <a:ext cx="5080000" cy="255333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2000" b="0">
                <a:latin typeface="Calibri" panose="020F0502020204030204" charset="0"/>
                <a:ea typeface="monospace"/>
                <a:cs typeface="Calibri" panose="020F0502020204030204" charset="0"/>
              </a:rPr>
              <a:t>Давайте узнаем, что сейчас происходит внутри нашего репозитория.</a:t>
            </a:r>
            <a:endParaRPr sz="2000" b="0">
              <a:latin typeface="Calibri" panose="020F0502020204030204" charset="0"/>
              <a:ea typeface="monospace"/>
              <a:cs typeface="Calibri" panose="020F05020202040302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endParaRPr sz="2000" b="0">
              <a:latin typeface="Calibri" panose="020F0502020204030204" charset="0"/>
              <a:ea typeface="monospace"/>
              <a:cs typeface="Calibri" panose="020F05020202040302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2000" b="0">
                <a:latin typeface="Calibri" panose="020F0502020204030204" charset="0"/>
                <a:ea typeface="monospace"/>
                <a:cs typeface="Calibri" panose="020F0502020204030204" charset="0"/>
              </a:rPr>
              <a:t>Введите в терминал команду:</a:t>
            </a:r>
            <a:endParaRPr sz="2000" b="0">
              <a:latin typeface="Calibri" panose="020F0502020204030204" charset="0"/>
              <a:ea typeface="monospace"/>
              <a:cs typeface="Calibri" panose="020F05020202040302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2000" b="1">
                <a:latin typeface="Calibri" panose="020F0502020204030204" charset="0"/>
                <a:ea typeface="monospace"/>
                <a:cs typeface="Calibri" panose="020F0502020204030204" charset="0"/>
              </a:rPr>
              <a:t>git status</a:t>
            </a:r>
            <a:endParaRPr sz="2000" b="1">
              <a:latin typeface="Calibri" panose="020F0502020204030204" charset="0"/>
              <a:ea typeface="monospace"/>
              <a:cs typeface="Calibri" panose="020F05020202040302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endParaRPr sz="2000" b="1">
              <a:latin typeface="Calibri" panose="020F0502020204030204" charset="0"/>
              <a:ea typeface="monospace"/>
              <a:cs typeface="Calibri" panose="020F05020202040302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2000" b="0">
                <a:latin typeface="Calibri" panose="020F0502020204030204" charset="0"/>
                <a:ea typeface="monospace"/>
                <a:cs typeface="Calibri" panose="020F0502020204030204" charset="0"/>
              </a:rPr>
              <a:t>Git покажет текущую ветку и файлы, которые</a:t>
            </a:r>
            <a:r>
              <a:rPr lang="en-US" sz="2000" b="0">
                <a:latin typeface="Calibri" panose="020F0502020204030204" charset="0"/>
                <a:ea typeface="monospace"/>
                <a:cs typeface="Calibri" panose="020F0502020204030204" charset="0"/>
              </a:rPr>
              <a:t> </a:t>
            </a:r>
            <a:r>
              <a:rPr sz="2000" b="0">
                <a:latin typeface="Calibri" panose="020F0502020204030204" charset="0"/>
                <a:ea typeface="monospace"/>
                <a:cs typeface="Calibri" panose="020F0502020204030204" charset="0"/>
              </a:rPr>
              <a:t> еще не были сохранены.</a:t>
            </a:r>
            <a:endParaRPr sz="2000" b="0">
              <a:latin typeface="Calibri" panose="020F0502020204030204" charset="0"/>
              <a:ea typeface="monospace"/>
              <a:cs typeface="Calibri" panose="020F0502020204030204" charset="0"/>
            </a:endParaRPr>
          </a:p>
        </p:txBody>
      </p:sp>
      <p:pic>
        <p:nvPicPr>
          <p:cNvPr id="9" name="Изображение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3575" y="2567305"/>
            <a:ext cx="6087110" cy="2559050"/>
          </a:xfrm>
          <a:prstGeom prst="rect">
            <a:avLst/>
          </a:prstGeom>
          <a:effectLst>
            <a:softEdge rad="31750"/>
          </a:effectLst>
        </p:spPr>
      </p:pic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Google Shape;86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36370" y="-1295854"/>
            <a:ext cx="4893129" cy="489312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Заголовок 7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330" y="608330"/>
            <a:ext cx="3075305" cy="705485"/>
          </a:xfrm>
        </p:spPr>
        <p:txBody>
          <a:bodyPr/>
          <a:p>
            <a:r>
              <a:rPr lang="en-US" altLang="ru-RU" b="1">
                <a:sym typeface="+mn-ea"/>
              </a:rPr>
              <a:t>Git</a:t>
            </a:r>
            <a:endParaRPr lang="en-US" altLang="ru-RU" b="1"/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608330" y="1376363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r>
              <a:rPr sz="2400" b="1">
                <a:latin typeface="Calibri" panose="020F0502020204030204" charset="0"/>
                <a:cs typeface="Calibri" panose="020F0502020204030204" charset="0"/>
              </a:rPr>
              <a:t>Шаг </a:t>
            </a:r>
            <a:r>
              <a:rPr lang="en-US" sz="2400" b="1">
                <a:latin typeface="Calibri" panose="020F0502020204030204" charset="0"/>
                <a:cs typeface="Calibri" panose="020F0502020204030204" charset="0"/>
              </a:rPr>
              <a:t>4</a:t>
            </a:r>
            <a:r>
              <a:rPr sz="2400" b="1">
                <a:latin typeface="Calibri" panose="020F0502020204030204" charset="0"/>
                <a:cs typeface="Calibri" panose="020F0502020204030204" charset="0"/>
              </a:rPr>
              <a:t>. </a:t>
            </a:r>
            <a:r>
              <a:rPr lang="ru-RU" sz="2400" b="1">
                <a:latin typeface="Calibri" panose="020F0502020204030204" charset="0"/>
                <a:cs typeface="Calibri" panose="020F0502020204030204" charset="0"/>
              </a:rPr>
              <a:t>Рдеактирование файла</a:t>
            </a:r>
            <a:endParaRPr lang="ru-RU" sz="2400" b="1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10" name="Изображение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4490" y="2360930"/>
            <a:ext cx="5886450" cy="3990975"/>
          </a:xfrm>
          <a:prstGeom prst="rect">
            <a:avLst/>
          </a:prstGeom>
          <a:effectLst>
            <a:softEdge rad="31750"/>
          </a:effectLst>
        </p:spPr>
      </p:pic>
      <p:sp>
        <p:nvSpPr>
          <p:cNvPr id="11" name="Текстовое поле 10"/>
          <p:cNvSpPr txBox="1"/>
          <p:nvPr/>
        </p:nvSpPr>
        <p:spPr>
          <a:xfrm>
            <a:off x="608330" y="3079750"/>
            <a:ext cx="470408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2000">
                <a:latin typeface="Calibri" panose="020F0502020204030204" charset="0"/>
                <a:ea typeface="monospace"/>
                <a:cs typeface="Calibri" panose="020F0502020204030204" charset="0"/>
                <a:sym typeface="+mn-ea"/>
              </a:rPr>
              <a:t>Давайте </a:t>
            </a:r>
            <a:r>
              <a:rPr lang="ru-RU" sz="2000">
                <a:latin typeface="Calibri" panose="020F0502020204030204" charset="0"/>
                <a:ea typeface="monospace"/>
                <a:cs typeface="Calibri" panose="020F0502020204030204" charset="0"/>
                <a:sym typeface="+mn-ea"/>
              </a:rPr>
              <a:t>добавим кнопку на наш сайт</a:t>
            </a:r>
            <a:r>
              <a:rPr lang="en-US" sz="2000">
                <a:latin typeface="Calibri" panose="020F0502020204030204" charset="0"/>
                <a:ea typeface="monospace"/>
                <a:cs typeface="Calibri" panose="020F0502020204030204" charset="0"/>
                <a:sym typeface="+mn-ea"/>
              </a:rPr>
              <a:t>,</a:t>
            </a:r>
            <a:r>
              <a:rPr lang="ru-RU" altLang="en-US" sz="2000">
                <a:latin typeface="Calibri" panose="020F0502020204030204" charset="0"/>
                <a:ea typeface="monospace"/>
                <a:cs typeface="Calibri" panose="020F0502020204030204" charset="0"/>
                <a:sym typeface="+mn-ea"/>
              </a:rPr>
              <a:t> чтобы </a:t>
            </a:r>
            <a:r>
              <a:rPr lang="en-US" altLang="ru-RU" sz="2000">
                <a:latin typeface="Calibri" panose="020F0502020204030204" charset="0"/>
                <a:ea typeface="monospace"/>
                <a:cs typeface="Calibri" panose="020F0502020204030204" charset="0"/>
                <a:sym typeface="+mn-ea"/>
              </a:rPr>
              <a:t>git </a:t>
            </a:r>
            <a:r>
              <a:rPr lang="ru-RU" altLang="en-US" sz="2000">
                <a:latin typeface="Calibri" panose="020F0502020204030204" charset="0"/>
                <a:ea typeface="monospace"/>
                <a:cs typeface="Calibri" panose="020F0502020204030204" charset="0"/>
                <a:sym typeface="+mn-ea"/>
              </a:rPr>
              <a:t>смог увидеть изменения в файле</a:t>
            </a:r>
            <a:r>
              <a:rPr sz="2000">
                <a:latin typeface="Calibri" panose="020F0502020204030204" charset="0"/>
                <a:ea typeface="monospace"/>
                <a:cs typeface="Calibri" panose="020F0502020204030204" charset="0"/>
                <a:sym typeface="+mn-ea"/>
              </a:rPr>
              <a:t>.</a:t>
            </a:r>
            <a:endParaRPr lang="ru-RU" altLang="en-US" sz="2000">
              <a:latin typeface="Calibri" panose="020F0502020204030204" charset="0"/>
              <a:ea typeface="monospace"/>
              <a:cs typeface="Calibri" panose="020F0502020204030204" charset="0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Текстовое поле 3"/>
          <p:cNvSpPr txBox="1"/>
          <p:nvPr/>
        </p:nvSpPr>
        <p:spPr>
          <a:xfrm>
            <a:off x="608330" y="1313498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r>
              <a:rPr sz="2400" b="1">
                <a:latin typeface="Calibri" panose="020F0502020204030204" charset="0"/>
                <a:cs typeface="Calibri" panose="020F0502020204030204" charset="0"/>
              </a:rPr>
              <a:t>Шаг </a:t>
            </a:r>
            <a:r>
              <a:rPr lang="ru-RU" sz="2400" b="1">
                <a:latin typeface="Calibri" panose="020F0502020204030204" charset="0"/>
                <a:cs typeface="Calibri" panose="020F0502020204030204" charset="0"/>
              </a:rPr>
              <a:t>5</a:t>
            </a:r>
            <a:r>
              <a:rPr sz="2400" b="1">
                <a:latin typeface="Calibri" panose="020F0502020204030204" charset="0"/>
                <a:cs typeface="Calibri" panose="020F0502020204030204" charset="0"/>
              </a:rPr>
              <a:t>. Подготовка файлов</a:t>
            </a:r>
            <a:endParaRPr sz="2400" b="1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5" name="Google Shape;86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36370" y="-1295854"/>
            <a:ext cx="4893129" cy="489312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Заголовок 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330" y="608330"/>
            <a:ext cx="3075305" cy="705485"/>
          </a:xfrm>
        </p:spPr>
        <p:txBody>
          <a:bodyPr/>
          <a:p>
            <a:r>
              <a:rPr lang="en-US" altLang="ru-RU" b="1">
                <a:sym typeface="+mn-ea"/>
              </a:rPr>
              <a:t>Git</a:t>
            </a:r>
            <a:endParaRPr lang="en-US" altLang="ru-RU" b="1"/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608330" y="1774190"/>
            <a:ext cx="7185660" cy="16300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2000" b="0">
                <a:latin typeface="Calibri" panose="020F0502020204030204" charset="0"/>
                <a:ea typeface="monospace"/>
                <a:cs typeface="Calibri" panose="020F0502020204030204" charset="0"/>
              </a:rPr>
              <a:t>Перед тем как сделать </a:t>
            </a:r>
            <a:r>
              <a:rPr lang="ru-RU" sz="2000" b="0">
                <a:latin typeface="Calibri" panose="020F0502020204030204" charset="0"/>
                <a:ea typeface="monospace"/>
                <a:cs typeface="Calibri" panose="020F0502020204030204" charset="0"/>
              </a:rPr>
              <a:t>коммит</a:t>
            </a:r>
            <a:r>
              <a:rPr sz="2000" b="0">
                <a:latin typeface="Calibri" panose="020F0502020204030204" charset="0"/>
                <a:ea typeface="monospace"/>
                <a:cs typeface="Calibri" panose="020F0502020204030204" charset="0"/>
              </a:rPr>
              <a:t>, нужно выбрать файлы для сохранения.</a:t>
            </a:r>
            <a:endParaRPr sz="2000" b="0">
              <a:latin typeface="Calibri" panose="020F0502020204030204" charset="0"/>
              <a:ea typeface="monospace"/>
              <a:cs typeface="Calibri" panose="020F05020202040302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2000" b="0">
                <a:latin typeface="Calibri" panose="020F0502020204030204" charset="0"/>
                <a:ea typeface="monospace"/>
                <a:cs typeface="Calibri" panose="020F0502020204030204" charset="0"/>
              </a:rPr>
              <a:t>Введите команду:</a:t>
            </a:r>
            <a:r>
              <a:rPr lang="ru-RU" sz="2000" b="0">
                <a:latin typeface="Calibri" panose="020F0502020204030204" charset="0"/>
                <a:ea typeface="monospace"/>
                <a:cs typeface="Calibri" panose="020F0502020204030204" charset="0"/>
              </a:rPr>
              <a:t> </a:t>
            </a:r>
            <a:r>
              <a:rPr sz="2000" b="1">
                <a:latin typeface="Calibri" panose="020F0502020204030204" charset="0"/>
                <a:ea typeface="monospace"/>
                <a:cs typeface="Calibri" panose="020F0502020204030204" charset="0"/>
              </a:rPr>
              <a:t>git add .</a:t>
            </a:r>
            <a:endParaRPr sz="2000" b="1">
              <a:latin typeface="Calibri" panose="020F0502020204030204" charset="0"/>
              <a:ea typeface="monospace"/>
              <a:cs typeface="Calibri" panose="020F05020202040302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2000" b="0">
                <a:latin typeface="Calibri" panose="020F0502020204030204" charset="0"/>
                <a:ea typeface="monospace"/>
                <a:cs typeface="Calibri" panose="020F0502020204030204" charset="0"/>
              </a:rPr>
              <a:t>Снова введите </a:t>
            </a:r>
            <a:r>
              <a:rPr sz="2000" b="1">
                <a:latin typeface="Calibri" panose="020F0502020204030204" charset="0"/>
                <a:ea typeface="monospace"/>
                <a:cs typeface="Calibri" panose="020F0502020204030204" charset="0"/>
              </a:rPr>
              <a:t>git status</a:t>
            </a:r>
            <a:r>
              <a:rPr sz="2000" b="0">
                <a:latin typeface="Calibri" panose="020F0502020204030204" charset="0"/>
                <a:ea typeface="monospace"/>
                <a:cs typeface="Calibri" panose="020F0502020204030204" charset="0"/>
              </a:rPr>
              <a:t> — файлы станут зелеными и готовыми к коммиту.</a:t>
            </a:r>
            <a:endParaRPr sz="2000" b="0">
              <a:latin typeface="Calibri" panose="020F0502020204030204" charset="0"/>
              <a:ea typeface="monospace"/>
              <a:cs typeface="Calibri" panose="020F0502020204030204" charset="0"/>
            </a:endParaRPr>
          </a:p>
        </p:txBody>
      </p:sp>
      <p:pic>
        <p:nvPicPr>
          <p:cNvPr id="8" name="Изображение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" y="3597275"/>
            <a:ext cx="8853170" cy="2763520"/>
          </a:xfrm>
          <a:prstGeom prst="rect">
            <a:avLst/>
          </a:prstGeom>
          <a:effectLst>
            <a:softEdge rad="31750"/>
          </a:effectLst>
        </p:spPr>
      </p:pic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Google Shape;86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36370" y="-1295854"/>
            <a:ext cx="4893129" cy="489312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Заголовок 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330" y="608330"/>
            <a:ext cx="3075305" cy="705485"/>
          </a:xfrm>
        </p:spPr>
        <p:txBody>
          <a:bodyPr/>
          <a:p>
            <a:r>
              <a:rPr lang="en-US" altLang="ru-RU" b="1">
                <a:sym typeface="+mn-ea"/>
              </a:rPr>
              <a:t>Git</a:t>
            </a:r>
            <a:endParaRPr lang="en-US" altLang="ru-RU" b="1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608330" y="1313498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r>
              <a:rPr sz="2400" b="1">
                <a:latin typeface="Calibri" panose="020F0502020204030204" charset="0"/>
                <a:cs typeface="Calibri" panose="020F0502020204030204" charset="0"/>
              </a:rPr>
              <a:t>Шаг </a:t>
            </a:r>
            <a:r>
              <a:rPr lang="en-US" sz="2400" b="1">
                <a:latin typeface="Calibri" panose="020F0502020204030204" charset="0"/>
                <a:cs typeface="Calibri" panose="020F0502020204030204" charset="0"/>
              </a:rPr>
              <a:t>6</a:t>
            </a:r>
            <a:r>
              <a:rPr sz="2400" b="1">
                <a:latin typeface="Calibri" panose="020F0502020204030204" charset="0"/>
                <a:cs typeface="Calibri" panose="020F0502020204030204" charset="0"/>
              </a:rPr>
              <a:t>. Создание коммита</a:t>
            </a:r>
            <a:endParaRPr sz="2400" b="1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608330" y="1899285"/>
            <a:ext cx="5339715" cy="70675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2000" b="0">
                <a:latin typeface="Calibri" panose="020F0502020204030204" charset="0"/>
                <a:ea typeface="monospace"/>
                <a:cs typeface="Calibri" panose="020F0502020204030204" charset="0"/>
              </a:rPr>
              <a:t>Сохраняем изменения в историю проекта без использования кнопок интерфейса.</a:t>
            </a:r>
            <a:endParaRPr sz="2000" b="0">
              <a:latin typeface="Calibri" panose="020F0502020204030204" charset="0"/>
              <a:ea typeface="monospace"/>
              <a:cs typeface="Calibri" panose="020F0502020204030204" charset="0"/>
            </a:endParaRPr>
          </a:p>
        </p:txBody>
      </p:sp>
      <p:pic>
        <p:nvPicPr>
          <p:cNvPr id="8" name="Изображение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880" y="4505325"/>
            <a:ext cx="8266430" cy="2089785"/>
          </a:xfrm>
          <a:prstGeom prst="rect">
            <a:avLst/>
          </a:prstGeom>
          <a:effectLst>
            <a:softEdge rad="31750"/>
          </a:effectLst>
        </p:spPr>
      </p:pic>
      <p:sp>
        <p:nvSpPr>
          <p:cNvPr id="9" name="Текстовое поле 8"/>
          <p:cNvSpPr txBox="1"/>
          <p:nvPr/>
        </p:nvSpPr>
        <p:spPr>
          <a:xfrm>
            <a:off x="5776595" y="1899285"/>
            <a:ext cx="609600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2000">
                <a:latin typeface="Calibri" panose="020F0502020204030204" charset="0"/>
                <a:ea typeface="monospace"/>
                <a:cs typeface="Calibri" panose="020F0502020204030204" charset="0"/>
                <a:sym typeface="+mn-ea"/>
              </a:rPr>
              <a:t>Введите команду с понятным описанием на английском языке:</a:t>
            </a:r>
            <a:endParaRPr sz="2000" b="0">
              <a:latin typeface="Calibri" panose="020F0502020204030204" charset="0"/>
              <a:ea typeface="monospace"/>
              <a:cs typeface="Calibri" panose="020F05020202040302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2000" b="1">
                <a:latin typeface="Calibri" panose="020F0502020204030204" charset="0"/>
                <a:ea typeface="monospace"/>
                <a:cs typeface="Calibri" panose="020F0502020204030204" charset="0"/>
                <a:sym typeface="+mn-ea"/>
              </a:rPr>
              <a:t>git commit -m "feat: add</a:t>
            </a:r>
            <a:r>
              <a:rPr lang="en-US" sz="2000" b="1">
                <a:latin typeface="Calibri" panose="020F0502020204030204" charset="0"/>
                <a:ea typeface="monospace"/>
                <a:cs typeface="Calibri" panose="020F0502020204030204" charset="0"/>
                <a:sym typeface="+mn-ea"/>
              </a:rPr>
              <a:t> button</a:t>
            </a:r>
            <a:r>
              <a:rPr sz="2000" b="1">
                <a:latin typeface="Calibri" panose="020F0502020204030204" charset="0"/>
                <a:ea typeface="monospace"/>
                <a:cs typeface="Calibri" panose="020F0502020204030204" charset="0"/>
                <a:sym typeface="+mn-ea"/>
              </a:rPr>
              <a:t> </a:t>
            </a:r>
            <a:r>
              <a:rPr lang="en-US" sz="2000" b="1">
                <a:latin typeface="Calibri" panose="020F0502020204030204" charset="0"/>
                <a:ea typeface="monospace"/>
                <a:cs typeface="Calibri" panose="020F0502020204030204" charset="0"/>
                <a:sym typeface="+mn-ea"/>
              </a:rPr>
              <a:t>in index.html</a:t>
            </a:r>
            <a:r>
              <a:rPr sz="2000" b="1">
                <a:latin typeface="Calibri" panose="020F0502020204030204" charset="0"/>
                <a:ea typeface="monospace"/>
                <a:cs typeface="Calibri" panose="020F0502020204030204" charset="0"/>
                <a:sym typeface="+mn-ea"/>
              </a:rPr>
              <a:t>"</a:t>
            </a:r>
            <a:endParaRPr lang="ru-RU" altLang="en-US" sz="2000" b="1">
              <a:latin typeface="Calibri" panose="020F0502020204030204" charset="0"/>
              <a:ea typeface="monospace"/>
              <a:cs typeface="Calibri" panose="020F0502020204030204" charset="0"/>
              <a:sym typeface="+mn-ea"/>
            </a:endParaRPr>
          </a:p>
        </p:txBody>
      </p:sp>
      <p:sp>
        <p:nvSpPr>
          <p:cNvPr id="10" name="Текстовое поле 9"/>
          <p:cNvSpPr txBox="1"/>
          <p:nvPr/>
        </p:nvSpPr>
        <p:spPr>
          <a:xfrm>
            <a:off x="2792095" y="3075305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2000">
                <a:latin typeface="Calibri" panose="020F0502020204030204" charset="0"/>
                <a:ea typeface="monospace"/>
                <a:cs typeface="Calibri" panose="020F0502020204030204" charset="0"/>
                <a:sym typeface="+mn-ea"/>
              </a:rPr>
              <a:t>Флаг -m позволяет написать сообщение к коммиту прямо в консоли.</a:t>
            </a:r>
            <a:endParaRPr lang="ru-RU" altLang="en-US" sz="2000">
              <a:latin typeface="Calibri" panose="020F0502020204030204" charset="0"/>
              <a:ea typeface="monospace"/>
              <a:cs typeface="Calibri" panose="020F0502020204030204" charset="0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Google Shape;86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36370" y="-1295854"/>
            <a:ext cx="4893129" cy="489312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Заголовок 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330" y="608330"/>
            <a:ext cx="3075305" cy="705485"/>
          </a:xfrm>
        </p:spPr>
        <p:txBody>
          <a:bodyPr/>
          <a:p>
            <a:r>
              <a:rPr lang="en-US" altLang="ru-RU" b="1">
                <a:sym typeface="+mn-ea"/>
              </a:rPr>
              <a:t>Git</a:t>
            </a:r>
            <a:endParaRPr lang="en-US" altLang="ru-RU" b="1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608330" y="1313498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2400" b="1">
                <a:latin typeface="Calibri" panose="020F0502020204030204" charset="0"/>
                <a:ea typeface="monospace"/>
                <a:cs typeface="Calibri" panose="020F0502020204030204" charset="0"/>
              </a:rPr>
              <a:t>Шаг 6. Настройка .gitignore</a:t>
            </a:r>
            <a:endParaRPr sz="2400" b="1">
              <a:latin typeface="Calibri" panose="020F0502020204030204" charset="0"/>
              <a:ea typeface="monospace"/>
              <a:cs typeface="Calibri" panose="020F0502020204030204" charset="0"/>
            </a:endParaRPr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608330" y="1878330"/>
            <a:ext cx="5080000" cy="2861310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2000" b="0">
                <a:latin typeface="Calibri" panose="020F0502020204030204" charset="0"/>
                <a:ea typeface="monospace"/>
                <a:cs typeface="Calibri" panose="020F0502020204030204" charset="0"/>
              </a:rPr>
              <a:t>Создайте в корне проекта файл с именем </a:t>
            </a:r>
            <a:r>
              <a:rPr sz="2000" b="1">
                <a:latin typeface="Calibri" panose="020F0502020204030204" charset="0"/>
                <a:ea typeface="monospace"/>
                <a:cs typeface="Calibri" panose="020F0502020204030204" charset="0"/>
              </a:rPr>
              <a:t>.gitignore</a:t>
            </a:r>
            <a:r>
              <a:rPr sz="2000" b="0">
                <a:latin typeface="Calibri" panose="020F0502020204030204" charset="0"/>
                <a:ea typeface="monospace"/>
                <a:cs typeface="Calibri" panose="020F0502020204030204" charset="0"/>
              </a:rPr>
              <a:t>(обязательно с точки).</a:t>
            </a:r>
            <a:endParaRPr sz="2000" b="0">
              <a:latin typeface="Calibri" panose="020F0502020204030204" charset="0"/>
              <a:ea typeface="monospace"/>
              <a:cs typeface="Calibri" panose="020F05020202040302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endParaRPr sz="2000" b="0">
              <a:latin typeface="Calibri" panose="020F0502020204030204" charset="0"/>
              <a:ea typeface="monospace"/>
              <a:cs typeface="Calibri" panose="020F05020202040302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2000" b="0">
                <a:latin typeface="Calibri" panose="020F0502020204030204" charset="0"/>
                <a:ea typeface="monospace"/>
                <a:cs typeface="Calibri" panose="020F0502020204030204" charset="0"/>
              </a:rPr>
              <a:t>Чтобы скрыть от Git все текстовые файлы, напишите внутри маску со звездочкой:</a:t>
            </a:r>
            <a:endParaRPr sz="2000" b="0">
              <a:latin typeface="Calibri" panose="020F0502020204030204" charset="0"/>
              <a:ea typeface="monospace"/>
              <a:cs typeface="Calibri" panose="020F05020202040302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2000" b="1">
                <a:latin typeface="Calibri" panose="020F0502020204030204" charset="0"/>
                <a:ea typeface="monospace"/>
                <a:cs typeface="Calibri" panose="020F0502020204030204" charset="0"/>
              </a:rPr>
              <a:t>*.txt</a:t>
            </a:r>
            <a:endParaRPr sz="2000" b="1">
              <a:latin typeface="Calibri" panose="020F0502020204030204" charset="0"/>
              <a:ea typeface="monospace"/>
              <a:cs typeface="Calibri" panose="020F05020202040302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endParaRPr sz="2000" b="1">
              <a:latin typeface="Calibri" panose="020F0502020204030204" charset="0"/>
              <a:ea typeface="monospace"/>
              <a:cs typeface="Calibri" panose="020F05020202040302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2000" b="0">
                <a:latin typeface="Calibri" panose="020F0502020204030204" charset="0"/>
                <a:ea typeface="monospace"/>
                <a:cs typeface="Calibri" panose="020F0502020204030204" charset="0"/>
              </a:rPr>
              <a:t>Символ * означает «любое имя файла». Теперь Git их не заметит.</a:t>
            </a:r>
            <a:endParaRPr sz="2000" b="0">
              <a:latin typeface="Calibri" panose="020F0502020204030204" charset="0"/>
              <a:ea typeface="monospace"/>
              <a:cs typeface="Calibri" panose="020F0502020204030204" charset="0"/>
            </a:endParaRPr>
          </a:p>
        </p:txBody>
      </p:sp>
      <p:pic>
        <p:nvPicPr>
          <p:cNvPr id="10" name="Изображение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5935" y="2209800"/>
            <a:ext cx="5791200" cy="2438400"/>
          </a:xfrm>
          <a:prstGeom prst="rect">
            <a:avLst/>
          </a:prstGeom>
        </p:spPr>
      </p:pic>
      <p:sp>
        <p:nvSpPr>
          <p:cNvPr id="11" name="Текстовое поле 10"/>
          <p:cNvSpPr txBox="1"/>
          <p:nvPr/>
        </p:nvSpPr>
        <p:spPr>
          <a:xfrm>
            <a:off x="3048000" y="5304155"/>
            <a:ext cx="609600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ru-RU" altLang="ru-RU" sz="2000">
                <a:latin typeface="Calibri" panose="020F0502020204030204" charset="0"/>
                <a:ea typeface="monospace"/>
                <a:cs typeface="Calibri" panose="020F0502020204030204" charset="0"/>
                <a:sym typeface="+mn-ea"/>
              </a:rPr>
              <a:t>*</a:t>
            </a:r>
            <a:r>
              <a:rPr lang="en-GB" altLang="ru-RU" sz="2000">
                <a:latin typeface="Calibri" panose="020F0502020204030204" charset="0"/>
                <a:ea typeface="monospace"/>
                <a:cs typeface="Calibri" panose="020F0502020204030204" charset="0"/>
                <a:sym typeface="+mn-ea"/>
              </a:rPr>
              <a:t>.txt</a:t>
            </a:r>
            <a:r>
              <a:rPr lang="ru-RU" altLang="en-GB" sz="2000">
                <a:latin typeface="Calibri" panose="020F0502020204030204" charset="0"/>
                <a:ea typeface="monospace"/>
                <a:cs typeface="Calibri" panose="020F0502020204030204" charset="0"/>
                <a:sym typeface="+mn-ea"/>
              </a:rPr>
              <a:t> заставляет </a:t>
            </a:r>
            <a:r>
              <a:rPr lang="en-US" altLang="en-GB" sz="2000">
                <a:latin typeface="Calibri" panose="020F0502020204030204" charset="0"/>
                <a:ea typeface="monospace"/>
                <a:cs typeface="Calibri" panose="020F0502020204030204" charset="0"/>
                <a:sym typeface="+mn-ea"/>
              </a:rPr>
              <a:t>git </a:t>
            </a:r>
            <a:r>
              <a:rPr lang="ru-RU" altLang="en-US" sz="2000">
                <a:latin typeface="Calibri" panose="020F0502020204030204" charset="0"/>
                <a:ea typeface="monospace"/>
                <a:cs typeface="Calibri" panose="020F0502020204030204" charset="0"/>
                <a:sym typeface="+mn-ea"/>
              </a:rPr>
              <a:t>игнорировать все файлы с расширением </a:t>
            </a:r>
            <a:r>
              <a:rPr lang="en-US" altLang="en-US" sz="2000">
                <a:latin typeface="Calibri" panose="020F0502020204030204" charset="0"/>
                <a:ea typeface="monospace"/>
                <a:cs typeface="Calibri" panose="020F0502020204030204" charset="0"/>
                <a:sym typeface="+mn-ea"/>
              </a:rPr>
              <a:t>.txt, </a:t>
            </a:r>
            <a:r>
              <a:rPr lang="ru-RU" altLang="en-US" sz="2000">
                <a:latin typeface="Calibri" panose="020F0502020204030204" charset="0"/>
                <a:ea typeface="monospace"/>
                <a:cs typeface="Calibri" panose="020F0502020204030204" charset="0"/>
                <a:sym typeface="+mn-ea"/>
              </a:rPr>
              <a:t>можем быть уверенными что </a:t>
            </a:r>
            <a:r>
              <a:rPr lang="en-US" altLang="ru-RU" sz="2000">
                <a:latin typeface="Calibri" panose="020F0502020204030204" charset="0"/>
                <a:ea typeface="monospace"/>
                <a:cs typeface="Calibri" panose="020F0502020204030204" charset="0"/>
                <a:sym typeface="+mn-ea"/>
              </a:rPr>
              <a:t>unUseText.txt </a:t>
            </a:r>
            <a:r>
              <a:rPr lang="ru-RU" altLang="ru-RU" sz="2000">
                <a:latin typeface="Calibri" panose="020F0502020204030204" charset="0"/>
                <a:ea typeface="monospace"/>
                <a:cs typeface="Calibri" panose="020F0502020204030204" charset="0"/>
                <a:sym typeface="+mn-ea"/>
              </a:rPr>
              <a:t>не попадет в коммит</a:t>
            </a:r>
            <a:endParaRPr lang="ru-RU" altLang="ru-RU" sz="2000">
              <a:latin typeface="Calibri" panose="020F0502020204030204" charset="0"/>
              <a:ea typeface="monospace"/>
              <a:cs typeface="Calibri" panose="020F0502020204030204" charset="0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Google Shape;86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36370" y="-1295854"/>
            <a:ext cx="4893129" cy="489312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Заголовок 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330" y="608330"/>
            <a:ext cx="3075305" cy="705485"/>
          </a:xfrm>
        </p:spPr>
        <p:txBody>
          <a:bodyPr/>
          <a:p>
            <a:r>
              <a:rPr lang="en-US" altLang="ru-RU" b="1">
                <a:sym typeface="+mn-ea"/>
              </a:rPr>
              <a:t>Git</a:t>
            </a:r>
            <a:endParaRPr lang="en-US" altLang="ru-RU" b="1"/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608330" y="131381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2400" b="1">
                <a:latin typeface="Calibri" panose="020F0502020204030204" charset="0"/>
                <a:ea typeface="monospace"/>
                <a:cs typeface="Calibri" panose="020F0502020204030204" charset="0"/>
                <a:sym typeface="+mn-ea"/>
              </a:rPr>
              <a:t>Шаг </a:t>
            </a:r>
            <a:r>
              <a:rPr lang="ru-RU" sz="2400" b="1">
                <a:latin typeface="Calibri" panose="020F0502020204030204" charset="0"/>
                <a:ea typeface="monospace"/>
                <a:cs typeface="Calibri" panose="020F0502020204030204" charset="0"/>
                <a:sym typeface="+mn-ea"/>
              </a:rPr>
              <a:t>7</a:t>
            </a:r>
            <a:r>
              <a:rPr sz="2400" b="1">
                <a:latin typeface="Calibri" panose="020F0502020204030204" charset="0"/>
                <a:ea typeface="monospace"/>
                <a:cs typeface="Calibri" panose="020F0502020204030204" charset="0"/>
                <a:sym typeface="+mn-ea"/>
              </a:rPr>
              <a:t>. </a:t>
            </a:r>
            <a:r>
              <a:rPr lang="ru-RU" sz="2400" b="1">
                <a:latin typeface="Calibri" panose="020F0502020204030204" charset="0"/>
                <a:ea typeface="monospace"/>
                <a:cs typeface="Calibri" panose="020F0502020204030204" charset="0"/>
                <a:sym typeface="+mn-ea"/>
              </a:rPr>
              <a:t>Последний коммит</a:t>
            </a:r>
            <a:endParaRPr lang="ru-RU" sz="2400" b="1">
              <a:latin typeface="Calibri" panose="020F0502020204030204" charset="0"/>
              <a:ea typeface="monospace"/>
              <a:cs typeface="Calibri" panose="020F0502020204030204" charset="0"/>
              <a:sym typeface="+mn-ea"/>
            </a:endParaRPr>
          </a:p>
        </p:txBody>
      </p:sp>
      <p:pic>
        <p:nvPicPr>
          <p:cNvPr id="9" name="Изображение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4395" y="2414905"/>
            <a:ext cx="5284470" cy="3453765"/>
          </a:xfrm>
          <a:prstGeom prst="rect">
            <a:avLst/>
          </a:prstGeom>
        </p:spPr>
      </p:pic>
      <p:cxnSp>
        <p:nvCxnSpPr>
          <p:cNvPr id="11" name="Прямая со стрелкой 10"/>
          <p:cNvCxnSpPr/>
          <p:nvPr/>
        </p:nvCxnSpPr>
        <p:spPr>
          <a:xfrm flipH="1" flipV="1">
            <a:off x="11135360" y="4218305"/>
            <a:ext cx="566420" cy="9525"/>
          </a:xfrm>
          <a:prstGeom prst="straightConnector1">
            <a:avLst/>
          </a:prstGeom>
          <a:ln w="31750">
            <a:gradFill>
              <a:gsLst>
                <a:gs pos="0">
                  <a:schemeClr val="accent2">
                    <a:hueOff val="-4200000"/>
                  </a:schemeClr>
                </a:gs>
                <a:gs pos="100000">
                  <a:schemeClr val="accent2"/>
                </a:gs>
              </a:gsLst>
            </a:gra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Текстовое поле 11"/>
          <p:cNvSpPr txBox="1"/>
          <p:nvPr/>
        </p:nvSpPr>
        <p:spPr>
          <a:xfrm>
            <a:off x="608330" y="3326765"/>
            <a:ext cx="3989070" cy="1630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ru-RU" sz="2000">
                <a:latin typeface="Calibri" panose="020F0502020204030204" charset="0"/>
                <a:ea typeface="monospace"/>
                <a:cs typeface="Calibri" panose="020F0502020204030204" charset="0"/>
                <a:sym typeface="+mn-ea"/>
              </a:rPr>
              <a:t>Коммиты так же можно оформлять не через команды</a:t>
            </a:r>
            <a:r>
              <a:rPr lang="en-US" sz="2000">
                <a:latin typeface="Calibri" panose="020F0502020204030204" charset="0"/>
                <a:ea typeface="monospace"/>
                <a:cs typeface="Calibri" panose="020F0502020204030204" charset="0"/>
                <a:sym typeface="+mn-ea"/>
              </a:rPr>
              <a:t>,</a:t>
            </a:r>
            <a:r>
              <a:rPr lang="ru-RU" sz="2000">
                <a:latin typeface="Calibri" panose="020F0502020204030204" charset="0"/>
                <a:ea typeface="monospace"/>
                <a:cs typeface="Calibri" panose="020F0502020204030204" charset="0"/>
                <a:sym typeface="+mn-ea"/>
              </a:rPr>
              <a:t> а через встроенный интерфейс </a:t>
            </a:r>
            <a:r>
              <a:rPr lang="en-US" sz="2000">
                <a:latin typeface="Calibri" panose="020F0502020204030204" charset="0"/>
                <a:ea typeface="monospace"/>
                <a:cs typeface="Calibri" panose="020F0502020204030204" charset="0"/>
                <a:sym typeface="+mn-ea"/>
              </a:rPr>
              <a:t>visual studio code</a:t>
            </a:r>
            <a:r>
              <a:rPr lang="en-GB" sz="2000">
                <a:latin typeface="Calibri" panose="020F0502020204030204" charset="0"/>
                <a:ea typeface="monospace"/>
                <a:cs typeface="Calibri" panose="020F0502020204030204" charset="0"/>
                <a:sym typeface="+mn-ea"/>
              </a:rPr>
              <a:t>, </a:t>
            </a:r>
            <a:r>
              <a:rPr lang="ru-RU" sz="2000">
                <a:latin typeface="Calibri" panose="020F0502020204030204" charset="0"/>
                <a:ea typeface="monospace"/>
                <a:cs typeface="Calibri" panose="020F0502020204030204" charset="0"/>
                <a:sym typeface="+mn-ea"/>
              </a:rPr>
              <a:t>как показано на скриншоте</a:t>
            </a:r>
            <a:r>
              <a:rPr lang="en-US" sz="2000">
                <a:latin typeface="Calibri" panose="020F0502020204030204" charset="0"/>
                <a:ea typeface="monospace"/>
                <a:cs typeface="Calibri" panose="020F0502020204030204" charset="0"/>
                <a:sym typeface="+mn-ea"/>
              </a:rPr>
              <a:t>.</a:t>
            </a:r>
            <a:endParaRPr lang="en-US" sz="2000">
              <a:latin typeface="Calibri" panose="020F0502020204030204" charset="0"/>
              <a:ea typeface="monospace"/>
              <a:cs typeface="Calibri" panose="020F0502020204030204" charset="0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1957</Words>
  <Application>WPS Presentation</Application>
  <PresentationFormat>Широкоэкранный</PresentationFormat>
  <Paragraphs>83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monospace</vt:lpstr>
      <vt:lpstr>Segoe Print</vt:lpstr>
      <vt:lpstr>WPS</vt:lpstr>
      <vt:lpstr>PowerPoint 演示文稿</vt:lpstr>
      <vt:lpstr>Git</vt:lpstr>
      <vt:lpstr>Git</vt:lpstr>
      <vt:lpstr>Git</vt:lpstr>
      <vt:lpstr>Git</vt:lpstr>
      <vt:lpstr>Git</vt:lpstr>
      <vt:lpstr>Git</vt:lpstr>
      <vt:lpstr>Git</vt:lpstr>
      <vt:lpstr>Git</vt:lpstr>
      <vt:lpstr>Git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Пустая презентация</dc:title>
  <dc:creator/>
  <cp:lastModifiedBy>WPS_1779520180</cp:lastModifiedBy>
  <cp:revision>3</cp:revision>
  <dcterms:created xsi:type="dcterms:W3CDTF">2026-07-25T18:50:21Z</dcterms:created>
  <dcterms:modified xsi:type="dcterms:W3CDTF">2026-07-25T19:10:45Z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1049-12.1.0.27458</vt:lpwstr>
  </property>
  <property fmtid="{D5CDD505-2E9C-101B-9397-08002B2CF9AE}" pid="3" name="ICV">
    <vt:lpwstr>D7C97B7F402F429C9F0D1C29BBDED3B9_12</vt:lpwstr>
  </property>
</Properties>
</file>