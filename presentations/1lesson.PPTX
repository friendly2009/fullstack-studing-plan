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1.png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0.xml"/><Relationship Id="rId5" Type="http://schemas.openxmlformats.org/officeDocument/2006/relationships/image" Target="../media/image5.png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6.png"/><Relationship Id="rId2" Type="http://schemas.openxmlformats.org/officeDocument/2006/relationships/tags" Target="../tags/tag7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7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10.png"/><Relationship Id="rId2" Type="http://schemas.openxmlformats.org/officeDocument/2006/relationships/tags" Target="../tags/tag7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image" Target="../media/image12.png"/><Relationship Id="rId3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Изображение 2" descr="20eee510-9117-496a-be96-dcb952aa59b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75775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3075305" cy="705485"/>
          </a:xfrm>
        </p:spPr>
        <p:txBody>
          <a:bodyPr/>
          <a:p>
            <a:r>
              <a:rPr lang="en-US" altLang="ru-RU" b="1">
                <a:sym typeface="+mn-ea"/>
              </a:rPr>
              <a:t>Git</a:t>
            </a:r>
            <a:endParaRPr lang="en-US" altLang="ru-RU" b="1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Текстовое поле 4"/>
          <p:cNvSpPr txBox="1"/>
          <p:nvPr/>
        </p:nvSpPr>
        <p:spPr>
          <a:xfrm>
            <a:off x="608330" y="17005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ru-RU" altLang="ru-RU" b="1">
                <a:sym typeface="+mn-ea"/>
              </a:rPr>
              <a:t>Урок 1 Инициализация репозитория</a:t>
            </a:r>
            <a:r>
              <a:rPr lang="ru-RU" altLang="ru-RU">
                <a:sym typeface="+mn-ea"/>
              </a:rPr>
              <a:t> </a:t>
            </a:r>
            <a:endParaRPr lang="ru-RU" altLang="ru-RU">
              <a:sym typeface="+mn-ea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2687955"/>
            <a:ext cx="8829675" cy="2708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ru-RU" altLang="ru-RU">
                <a:sym typeface="+mn-ea"/>
              </a:rPr>
              <a:t>Цель урока</a:t>
            </a:r>
            <a:r>
              <a:rPr lang="en-US" altLang="ru-RU">
                <a:sym typeface="+mn-ea"/>
              </a:rPr>
              <a:t>:</a:t>
            </a:r>
            <a:endParaRPr lang="en-US" altLang="ru-RU">
              <a:sym typeface="+mn-ea"/>
            </a:endParaRPr>
          </a:p>
          <a:p>
            <a:pPr marL="0" indent="0">
              <a:buNone/>
            </a:pPr>
            <a:r>
              <a:rPr lang="en-US" altLang="ru-RU">
                <a:sym typeface="+mn-ea"/>
              </a:rPr>
              <a:t>1. </a:t>
            </a:r>
            <a:r>
              <a:rPr lang="ru-RU" altLang="ru-RU">
                <a:sym typeface="+mn-ea"/>
              </a:rPr>
              <a:t>установка </a:t>
            </a:r>
            <a:r>
              <a:rPr lang="en-US" altLang="ru-RU">
                <a:sym typeface="+mn-ea"/>
              </a:rPr>
              <a:t>git</a:t>
            </a:r>
            <a:endParaRPr lang="en-US" altLang="ru-RU">
              <a:sym typeface="+mn-ea"/>
            </a:endParaRPr>
          </a:p>
          <a:p>
            <a:pPr marL="0" indent="0">
              <a:buNone/>
            </a:pPr>
            <a:r>
              <a:rPr lang="en-US" altLang="ru-RU">
                <a:sym typeface="+mn-ea"/>
              </a:rPr>
              <a:t>2. </a:t>
            </a:r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регистрация </a:t>
            </a:r>
            <a:r>
              <a:rPr lang="ru-RU" altLang="en-US">
                <a:sym typeface="+mn-ea"/>
              </a:rPr>
              <a:t>аккаунтов в </a:t>
            </a:r>
            <a:r>
              <a:rPr lang="en-US" altLang="ru-RU">
                <a:sym typeface="+mn-ea"/>
              </a:rPr>
              <a:t>GitHub</a:t>
            </a:r>
            <a:endParaRPr lang="en-US" altLang="ru-RU">
              <a:sym typeface="+mn-ea"/>
            </a:endParaRPr>
          </a:p>
          <a:p>
            <a:pPr marL="0" indent="0">
              <a:buNone/>
            </a:pPr>
            <a:r>
              <a:rPr lang="en-US" altLang="ru-RU">
                <a:sym typeface="+mn-ea"/>
              </a:rPr>
              <a:t>3. </a:t>
            </a:r>
            <a:r>
              <a:rPr lang="ru-RU" altLang="en-US">
                <a:sym typeface="+mn-ea"/>
              </a:rPr>
              <a:t>инициализация репозитория в </a:t>
            </a:r>
            <a:r>
              <a:rPr lang="en-US" altLang="ru-RU">
                <a:sym typeface="+mn-ea"/>
              </a:rPr>
              <a:t>Visual Studio Code</a:t>
            </a:r>
            <a:endParaRPr lang="en-US" altLang="ru-RU">
              <a:sym typeface="+mn-ea"/>
            </a:endParaRPr>
          </a:p>
          <a:p>
            <a:pPr marL="0" indent="0">
              <a:buNone/>
            </a:pPr>
            <a:r>
              <a:rPr lang="en-US" altLang="ru-RU">
                <a:sym typeface="+mn-ea"/>
              </a:rPr>
              <a:t>4. </a:t>
            </a:r>
            <a:r>
              <a:rPr lang="ru-RU" altLang="ru-RU">
                <a:sym typeface="+mn-ea"/>
              </a:rPr>
              <a:t>первый коммит</a:t>
            </a:r>
            <a:endParaRPr lang="ru-RU" altLang="ru-RU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58775" y="34988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358775" y="1174115"/>
            <a:ext cx="39789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1. Скачивание</a:t>
            </a:r>
            <a:endParaRPr lang="en-US" altLang="en-US" sz="2400" b="1">
              <a:sym typeface="+mn-ea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Текстовое поле 1"/>
          <p:cNvSpPr txBox="1"/>
          <p:nvPr/>
        </p:nvSpPr>
        <p:spPr>
          <a:xfrm>
            <a:off x="64770" y="3129598"/>
            <a:ext cx="5080000" cy="598805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sz="1600"/>
              <a:t>Перейдите на официальный сайт </a:t>
            </a:r>
            <a:r>
              <a:rPr sz="1700" b="1">
                <a:latin typeface="Calibri" panose="020F0502020204030204" charset="0"/>
                <a:ea typeface="Google Sans"/>
                <a:cs typeface="Calibri" panose="020F0502020204030204" charset="0"/>
              </a:rPr>
              <a:t>git-scm.com</a:t>
            </a:r>
            <a:r>
              <a:rPr sz="1600"/>
              <a:t> и скачайте версию для Windows</a:t>
            </a:r>
            <a:endParaRPr sz="160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770" y="2425700"/>
            <a:ext cx="6777355" cy="4052570"/>
          </a:xfrm>
          <a:prstGeom prst="rect">
            <a:avLst/>
          </a:prstGeom>
          <a:effectLst>
            <a:softEdge rad="31750"/>
          </a:effectLst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" y="2106930"/>
            <a:ext cx="5648325" cy="4410075"/>
          </a:xfrm>
          <a:prstGeom prst="rect">
            <a:avLst/>
          </a:prstGeom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Заголовок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58775" y="34988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sp>
        <p:nvSpPr>
          <p:cNvPr id="7" name="Заголовок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582410" y="2985135"/>
            <a:ext cx="3465195" cy="108585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ru-RU" altLang="ru-RU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2412365" y="698500"/>
            <a:ext cx="6694170" cy="1029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buNone/>
            </a:pPr>
            <a:r>
              <a:rPr lang="ru-RU" altLang="ru-RU">
                <a:sym typeface="+mn-ea"/>
              </a:rPr>
              <a:t>Соглашаемся со всем и устанавливаем </a:t>
            </a:r>
            <a:r>
              <a:rPr lang="en-US" altLang="ru-RU">
                <a:sym typeface="+mn-ea"/>
              </a:rPr>
              <a:t>git</a:t>
            </a:r>
            <a:endParaRPr lang="en-US" altLang="ru-RU">
              <a:sym typeface="+mn-ea"/>
            </a:endParaRPr>
          </a:p>
        </p:txBody>
      </p:sp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010" y="2985135"/>
            <a:ext cx="5554980" cy="3580130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299085" y="135128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</a:t>
            </a:r>
            <a:r>
              <a:rPr lang="ru-RU" altLang="en-US" sz="2400" b="1">
                <a:sym typeface="+mn-ea"/>
              </a:rPr>
              <a:t>2</a:t>
            </a:r>
            <a:r>
              <a:rPr lang="en-US" altLang="en-US" sz="2400" b="1">
                <a:sym typeface="+mn-ea"/>
              </a:rPr>
              <a:t>. </a:t>
            </a:r>
            <a:r>
              <a:rPr lang="ru-RU" altLang="en-US" sz="2400" b="1">
                <a:sym typeface="+mn-ea"/>
              </a:rPr>
              <a:t>Установка</a:t>
            </a:r>
            <a:endParaRPr lang="ru-RU" altLang="en-US" sz="2400" b="1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6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Заголовок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3860" y="40322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241300" y="3429000"/>
            <a:ext cx="2666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ru-RU" altLang="ru-RU" sz="2000">
                <a:sym typeface="+mn-ea"/>
              </a:rPr>
              <a:t>Регистрируемся или входим в аккаунты на </a:t>
            </a:r>
            <a:r>
              <a:rPr lang="en-US" altLang="ru-RU" sz="2000">
                <a:sym typeface="+mn-ea"/>
              </a:rPr>
              <a:t>GitHub.com</a:t>
            </a:r>
            <a:endParaRPr lang="en-US" altLang="ru-RU" sz="2000">
              <a:sym typeface="+mn-ea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03860" y="11087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</a:t>
            </a:r>
            <a:r>
              <a:rPr lang="ru-RU" altLang="en-US" sz="2400" b="1">
                <a:sym typeface="+mn-ea"/>
              </a:rPr>
              <a:t>3</a:t>
            </a:r>
            <a:r>
              <a:rPr lang="en-US" altLang="en-US" sz="2400" b="1">
                <a:sym typeface="+mn-ea"/>
              </a:rPr>
              <a:t>. </a:t>
            </a:r>
            <a:r>
              <a:rPr lang="ru-RU" altLang="en-US" sz="2400" b="1">
                <a:sym typeface="+mn-ea"/>
              </a:rPr>
              <a:t>Регистрация</a:t>
            </a:r>
            <a:endParaRPr lang="ru-RU" altLang="en-US" sz="2400" b="1">
              <a:sym typeface="+mn-ea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780" y="2371090"/>
            <a:ext cx="8733155" cy="4133850"/>
          </a:xfrm>
          <a:prstGeom prst="rect">
            <a:avLst/>
          </a:prstGeom>
          <a:effectLst>
            <a:softEdge rad="31750"/>
          </a:effectLst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6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Заголовок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3860" y="40322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952625"/>
            <a:ext cx="2717800" cy="465772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7" name="Текстовое поле 6"/>
          <p:cNvSpPr txBox="1"/>
          <p:nvPr/>
        </p:nvSpPr>
        <p:spPr>
          <a:xfrm>
            <a:off x="132715" y="3891280"/>
            <a:ext cx="6693535" cy="2169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ru-RU" altLang="ru-RU">
                <a:sym typeface="+mn-ea"/>
              </a:rPr>
              <a:t>Открыв </a:t>
            </a:r>
            <a:r>
              <a:rPr lang="en-US" altLang="ru-RU">
                <a:sym typeface="+mn-ea"/>
              </a:rPr>
              <a:t>Visual Studio Code</a:t>
            </a:r>
            <a:r>
              <a:rPr lang="ru-RU" altLang="en-US">
                <a:sym typeface="+mn-ea"/>
              </a:rPr>
              <a:t> выбираем </a:t>
            </a:r>
            <a:r>
              <a:rPr lang="en-US" altLang="ru-RU">
                <a:sym typeface="+mn-ea"/>
              </a:rPr>
              <a:t>file =&gt; Open Folder...</a:t>
            </a:r>
            <a:endParaRPr lang="en-US" altLang="ru-RU">
              <a:sym typeface="+mn-ea"/>
            </a:endParaRPr>
          </a:p>
          <a:p>
            <a:endParaRPr lang="en-GB" altLang="ru-RU">
              <a:sym typeface="+mn-ea"/>
            </a:endParaRPr>
          </a:p>
          <a:p>
            <a:r>
              <a:rPr lang="en-US" altLang="en-US">
                <a:sym typeface="+mn-ea"/>
              </a:rPr>
              <a:t>Потребуется создать рабочую папку в проводнике, а затем открыть её через это меню</a:t>
            </a:r>
            <a:r>
              <a:rPr lang="ru-RU" altLang="en-US">
                <a:sym typeface="+mn-ea"/>
              </a:rPr>
              <a:t> </a:t>
            </a:r>
            <a:endParaRPr lang="ru-RU" altLang="en-US">
              <a:sym typeface="+mn-ea"/>
            </a:endParaRPr>
          </a:p>
        </p:txBody>
      </p:sp>
      <p:pic>
        <p:nvPicPr>
          <p:cNvPr id="2" name="Изображение 1" descr="imag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" y="1882775"/>
            <a:ext cx="1637665" cy="1637665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403860" y="12655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</a:t>
            </a:r>
            <a:r>
              <a:rPr lang="ru-RU" altLang="en-US" sz="2400" b="1">
                <a:sym typeface="+mn-ea"/>
              </a:rPr>
              <a:t>4</a:t>
            </a:r>
            <a:r>
              <a:rPr lang="en-US" altLang="en-US" sz="2400" b="1">
                <a:sym typeface="+mn-ea"/>
              </a:rPr>
              <a:t>. </a:t>
            </a:r>
            <a:r>
              <a:rPr lang="ru-RU" altLang="en-US" sz="2400" b="1">
                <a:sym typeface="+mn-ea"/>
              </a:rPr>
              <a:t>Создание нового проекта</a:t>
            </a:r>
            <a:endParaRPr lang="ru-RU" altLang="en-US" sz="2400" b="1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 l="18158" b="36071"/>
          <a:stretch>
            <a:fillRect/>
          </a:stretch>
        </p:blipFill>
        <p:spPr>
          <a:xfrm>
            <a:off x="1705610" y="2720340"/>
            <a:ext cx="9387205" cy="397192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Заголовок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03860" y="40322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403860" y="1854200"/>
            <a:ext cx="72097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>
                <a:sym typeface="+mn-ea"/>
              </a:rPr>
              <a:t>Нажмите на </a:t>
            </a:r>
            <a:r>
              <a:rPr lang="en-US" altLang="en-US">
                <a:sym typeface="+mn-ea"/>
              </a:rPr>
              <a:t>ctrl + `</a:t>
            </a:r>
            <a:r>
              <a:rPr lang="ru-RU" altLang="en-US">
                <a:sym typeface="+mn-ea"/>
              </a:rPr>
              <a:t> чтобы открыть терминал</a:t>
            </a:r>
            <a:r>
              <a:rPr lang="en-US" altLang="ru-RU">
                <a:sym typeface="+mn-ea"/>
              </a:rPr>
              <a:t> </a:t>
            </a:r>
            <a:r>
              <a:rPr lang="ru-RU" altLang="en-US">
                <a:sym typeface="+mn-ea"/>
              </a:rPr>
              <a:t>и введите команду</a:t>
            </a:r>
            <a:r>
              <a:rPr lang="en-US" altLang="ru-RU">
                <a:sym typeface="+mn-ea"/>
              </a:rPr>
              <a:t>:</a:t>
            </a:r>
            <a:r>
              <a:rPr lang="ru-RU" altLang="en-US">
                <a:sym typeface="+mn-ea"/>
              </a:rPr>
              <a:t> </a:t>
            </a:r>
            <a:endParaRPr lang="ru-RU" altLang="en-US">
              <a:sym typeface="+mn-ea"/>
            </a:endParaRPr>
          </a:p>
          <a:p>
            <a:pPr algn="ctr"/>
            <a:r>
              <a:rPr lang="en-US" altLang="en-US" b="1">
                <a:solidFill>
                  <a:schemeClr val="tx1"/>
                </a:solidFill>
                <a:sym typeface="+mn-ea"/>
              </a:rPr>
              <a:t>git </a:t>
            </a:r>
            <a:r>
              <a:rPr lang="en-US" altLang="en-US" b="1">
                <a:sym typeface="+mn-ea"/>
              </a:rPr>
              <a:t>init</a:t>
            </a:r>
            <a:endParaRPr lang="en-US" altLang="en-US" b="1">
              <a:sym typeface="+mn-ea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03860" y="11087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</a:t>
            </a:r>
            <a:r>
              <a:rPr lang="ru-RU" altLang="en-US" sz="2400" b="1">
                <a:sym typeface="+mn-ea"/>
              </a:rPr>
              <a:t>5</a:t>
            </a:r>
            <a:r>
              <a:rPr lang="en-US" altLang="en-US" sz="2400" b="1">
                <a:sym typeface="+mn-ea"/>
              </a:rPr>
              <a:t>. </a:t>
            </a:r>
            <a:r>
              <a:rPr lang="ru-RU" altLang="en-US" sz="2400" b="1">
                <a:sym typeface="+mn-ea"/>
              </a:rPr>
              <a:t>Инициализация репозитория</a:t>
            </a:r>
            <a:endParaRPr lang="ru-RU" altLang="en-US" sz="2400" b="1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6" name="Google Shape;86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Заголовок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3860" y="40322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rcRect r="13254" b="33096"/>
          <a:stretch>
            <a:fillRect/>
          </a:stretch>
        </p:blipFill>
        <p:spPr>
          <a:xfrm>
            <a:off x="1199515" y="2583180"/>
            <a:ext cx="9678035" cy="404241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403860" y="181610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После этого в терминале появится сообщение об успешном создании скрытой папки .</a:t>
            </a:r>
            <a:r>
              <a:rPr lang="en-US" altLang="ru-RU"/>
              <a:t>git</a:t>
            </a:r>
            <a:endParaRPr lang="en-US" altLang="ru-RU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37185" y="12909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</a:t>
            </a:r>
            <a:r>
              <a:rPr lang="ru-RU" altLang="en-US" sz="2400" b="1">
                <a:sym typeface="+mn-ea"/>
              </a:rPr>
              <a:t>5</a:t>
            </a:r>
            <a:r>
              <a:rPr lang="en-US" altLang="en-US" sz="2400" b="1">
                <a:sym typeface="+mn-ea"/>
              </a:rPr>
              <a:t>. </a:t>
            </a:r>
            <a:r>
              <a:rPr lang="ru-RU" altLang="en-US" sz="2400" b="1">
                <a:sym typeface="+mn-ea"/>
              </a:rPr>
              <a:t>Инициализация репозитория</a:t>
            </a:r>
            <a:endParaRPr lang="ru-RU" altLang="en-US" sz="2400" b="1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" y="1872615"/>
            <a:ext cx="2981960" cy="138112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5" name="Заголовок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3860" y="40322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Текстовое поле 5"/>
          <p:cNvSpPr txBox="1"/>
          <p:nvPr/>
        </p:nvSpPr>
        <p:spPr>
          <a:xfrm>
            <a:off x="4425315" y="23787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/>
              <a:t>Добавьте первый файл </a:t>
            </a:r>
            <a:r>
              <a:rPr lang="en-US" altLang="en-US"/>
              <a:t>используя первую иконку слева</a:t>
            </a:r>
            <a:endParaRPr lang="en-US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0" y="3514725"/>
            <a:ext cx="2981325" cy="295275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8" name="Текстовое поле 7"/>
          <p:cNvSpPr txBox="1"/>
          <p:nvPr/>
        </p:nvSpPr>
        <p:spPr>
          <a:xfrm>
            <a:off x="3657600" y="4806950"/>
            <a:ext cx="60953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ru-RU">
                <a:sym typeface="+mn-ea"/>
              </a:rPr>
              <a:t>Напишем маленькую </a:t>
            </a:r>
            <a:r>
              <a:rPr lang="en-US" altLang="ru-RU">
                <a:sym typeface="+mn-ea"/>
              </a:rPr>
              <a:t>HTML </a:t>
            </a:r>
            <a:r>
              <a:rPr lang="ru-RU" altLang="ru-RU">
                <a:sym typeface="+mn-ea"/>
              </a:rPr>
              <a:t>страничку</a:t>
            </a:r>
            <a:endParaRPr lang="ru-RU" altLang="ru-RU">
              <a:sym typeface="+mn-ea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03860" y="11087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</a:t>
            </a:r>
            <a:r>
              <a:rPr lang="ru-RU" altLang="en-US" sz="2400" b="1">
                <a:sym typeface="+mn-ea"/>
              </a:rPr>
              <a:t>6</a:t>
            </a:r>
            <a:r>
              <a:rPr lang="en-US" altLang="en-US" sz="2400" b="1">
                <a:sym typeface="+mn-ea"/>
              </a:rPr>
              <a:t>. </a:t>
            </a:r>
            <a:r>
              <a:rPr lang="ru-RU" altLang="en-US" sz="2400" b="1">
                <a:sym typeface="+mn-ea"/>
              </a:rPr>
              <a:t>Создание сайта</a:t>
            </a:r>
            <a:endParaRPr lang="ru-RU" altLang="en-US" sz="2400" b="1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03860" y="403225"/>
            <a:ext cx="3075305" cy="705485"/>
          </a:xfrm>
        </p:spPr>
        <p:txBody>
          <a:bodyPr/>
          <a:p>
            <a:r>
              <a:rPr lang="en-US" altLang="ru-RU" b="1"/>
              <a:t>Git</a:t>
            </a:r>
            <a:endParaRPr lang="en-US" altLang="ru-RU" b="1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36370" y="-1295854"/>
            <a:ext cx="4893129" cy="4893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" y="1976755"/>
            <a:ext cx="3324225" cy="363029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7" name="Текстовое поле 6"/>
          <p:cNvSpPr txBox="1"/>
          <p:nvPr/>
        </p:nvSpPr>
        <p:spPr>
          <a:xfrm>
            <a:off x="5750560" y="5855335"/>
            <a:ext cx="6214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/>
              <a:t>Перейдя во вкладку </a:t>
            </a:r>
            <a:r>
              <a:rPr lang="en-US" altLang="en-US" b="1"/>
              <a:t>G</a:t>
            </a:r>
            <a:r>
              <a:rPr lang="en-US" altLang="ru-RU" b="1"/>
              <a:t>it</a:t>
            </a:r>
            <a:r>
              <a:rPr lang="en-US" altLang="ru-RU"/>
              <a:t>, </a:t>
            </a:r>
            <a:r>
              <a:rPr lang="en-US" altLang="en-US"/>
              <a:t>можно увидеть файлы, которые изменились</a:t>
            </a:r>
            <a:r>
              <a:rPr lang="ru-RU" altLang="en-US"/>
              <a:t> за время нашей работы</a:t>
            </a:r>
            <a:r>
              <a:rPr lang="en-US" altLang="en-US"/>
              <a:t>,</a:t>
            </a:r>
            <a:r>
              <a:rPr lang="ru-RU" altLang="en-US"/>
              <a:t> в данном случае это только </a:t>
            </a:r>
            <a:r>
              <a:rPr lang="en-US" altLang="ru-RU" b="1"/>
              <a:t>i</a:t>
            </a:r>
            <a:r>
              <a:rPr lang="en-US" altLang="en-US" b="1"/>
              <a:t>ndex.html</a:t>
            </a:r>
            <a:endParaRPr lang="en-US" altLang="en-US" b="1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3877310" y="3429000"/>
            <a:ext cx="32613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>
                <a:sym typeface="+mn-ea"/>
              </a:rPr>
              <a:t>Нажмите на </a:t>
            </a:r>
            <a:r>
              <a:rPr lang="en-US" altLang="en-US" b="1">
                <a:sym typeface="+mn-ea"/>
              </a:rPr>
              <a:t>Commit </a:t>
            </a:r>
            <a:r>
              <a:rPr lang="ru-RU" altLang="en-US">
                <a:sym typeface="+mn-ea"/>
              </a:rPr>
              <a:t>для первой фиксации в коде</a:t>
            </a:r>
            <a:endParaRPr lang="ru-RU" altLang="en-US">
              <a:sym typeface="+mn-ea"/>
            </a:endParaRP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215" y="1976755"/>
            <a:ext cx="4591050" cy="363855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Текстовое поле 1"/>
          <p:cNvSpPr txBox="1"/>
          <p:nvPr/>
        </p:nvSpPr>
        <p:spPr>
          <a:xfrm>
            <a:off x="154940" y="5735003"/>
            <a:ext cx="5080000" cy="922020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Введите осмысленное сообщение коммита (например, 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feat: index.html added)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и нажмите кнопку 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Commit.</a:t>
            </a:r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403860" y="11087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Шаг </a:t>
            </a:r>
            <a:r>
              <a:rPr lang="ru-RU" altLang="en-US" sz="2400" b="1">
                <a:sym typeface="+mn-ea"/>
              </a:rPr>
              <a:t>5</a:t>
            </a:r>
            <a:r>
              <a:rPr lang="en-US" altLang="en-US" sz="2400" b="1">
                <a:sym typeface="+mn-ea"/>
              </a:rPr>
              <a:t>. </a:t>
            </a:r>
            <a:r>
              <a:rPr lang="ru-RU" altLang="en-US" sz="2400" b="1">
                <a:sym typeface="+mn-ea"/>
              </a:rPr>
              <a:t>Первый коммит</a:t>
            </a:r>
            <a:endParaRPr lang="ru-RU" altLang="en-US" sz="2400" b="1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WPS Presentation</Application>
  <PresentationFormat>Широкоэкранный</PresentationFormat>
  <Paragraphs>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Google Sans</vt:lpstr>
      <vt:lpstr>Segoe Print</vt:lpstr>
      <vt:lpstr>WPS</vt:lpstr>
      <vt:lpstr>PowerPoint 演示文稿</vt:lpstr>
      <vt:lpstr>Git</vt:lpstr>
      <vt:lpstr>Git</vt:lpstr>
      <vt:lpstr>Git</vt:lpstr>
      <vt:lpstr>Git</vt:lpstr>
      <vt:lpstr>Git</vt:lpstr>
      <vt:lpstr>Git</vt:lpstr>
      <vt:lpstr>Git</vt:lpstr>
      <vt:lpstr>Git</vt:lpstr>
      <vt:lpstr>Git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/>
  <cp:lastModifiedBy>WPS_1779520180</cp:lastModifiedBy>
  <cp:revision>9</cp:revision>
  <dcterms:created xsi:type="dcterms:W3CDTF">2026-07-23T08:54:00Z</dcterms:created>
  <dcterms:modified xsi:type="dcterms:W3CDTF">2026-07-25T17:58:12Z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1049-12.1.0.27458</vt:lpwstr>
  </property>
  <property fmtid="{D5CDD505-2E9C-101B-9397-08002B2CF9AE}" pid="3" name="ICV">
    <vt:lpwstr>A18092DBEC1840879473883B8F251A03_12</vt:lpwstr>
  </property>
</Properties>
</file>